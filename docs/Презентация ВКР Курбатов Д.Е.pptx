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5144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35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3999" y="432000"/>
            <a:ext cx="792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C4A46A"/>
                </a:solidFill>
                <a:latin typeface="Calibri"/>
              </a:defRPr>
            </a:pPr>
            <a:r>
              <a:t>Веб-портал НОЦ устойчивого развития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1224000"/>
            <a:ext cx="7560000" cy="4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2000">
                <a:solidFill>
                  <a:srgbClr val="F4F7F4"/>
                </a:solidFill>
                <a:latin typeface="Calibri"/>
              </a:defRPr>
            </a:pPr>
            <a:r>
              <a:t>Курбатов Дмитрий Евгеньевич</a:t>
            </a:r>
          </a:p>
          <a:p>
            <a:pPr algn="l">
              <a:spcAft>
                <a:spcPts val="1000"/>
              </a:spcAft>
              <a:defRPr sz="2000">
                <a:solidFill>
                  <a:srgbClr val="F4F7F4"/>
                </a:solidFill>
                <a:latin typeface="Calibri"/>
              </a:defRPr>
            </a:pPr>
            <a:r>
              <a:t>38.03.05 Бизнес-информатика</a:t>
            </a:r>
          </a:p>
          <a:p>
            <a:pPr algn="l">
              <a:spcAft>
                <a:spcPts val="1000"/>
              </a:spcAft>
              <a:defRPr sz="2000">
                <a:solidFill>
                  <a:srgbClr val="F4F7F4"/>
                </a:solidFill>
                <a:latin typeface="Calibri"/>
              </a:defRPr>
            </a:pPr>
            <a:r>
              <a:t>Руководитель: доцент, к.т.н. А. А. Блощук</a:t>
            </a:r>
          </a:p>
          <a:p>
            <a:pPr algn="l">
              <a:spcAft>
                <a:spcPts val="1000"/>
              </a:spcAft>
              <a:defRPr sz="2000">
                <a:solidFill>
                  <a:srgbClr val="F4F7F4"/>
                </a:solidFill>
                <a:latin typeface="Calibri"/>
              </a:defRPr>
            </a:pPr>
            <a:r>
              <a:t>Москва,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3999" y="432000"/>
            <a:ext cx="792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4D3A"/>
                </a:solidFill>
                <a:latin typeface="Calibri"/>
              </a:defRPr>
            </a:pPr>
            <a:r>
              <a:t>Тема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1224000"/>
            <a:ext cx="7560000" cy="4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2000">
                <a:solidFill>
                  <a:srgbClr val="243028"/>
                </a:solidFill>
                <a:latin typeface="Calibri"/>
              </a:defRPr>
            </a:pPr>
            <a:r>
              <a:t>Разработка веб-портала для Научно-образовательного центра устойчивого развития (на примере Частного образовательного учреждения высшего образования «Московский университет имени С.Ю. Витте»)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3999" y="432000"/>
            <a:ext cx="792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4D3A"/>
                </a:solidFill>
                <a:latin typeface="Calibri"/>
              </a:defRPr>
            </a:pPr>
            <a:r>
              <a:t>Актуальность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1224000"/>
            <a:ext cx="7560000" cy="4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2000">
                <a:solidFill>
                  <a:srgbClr val="243028"/>
                </a:solidFill>
                <a:latin typeface="Calibri"/>
              </a:defRPr>
            </a:pPr>
            <a:r>
              <a:t>Центр создан в МУИВ в 2021 году как экспертная площадка.</a:t>
            </a:r>
          </a:p>
          <a:p>
            <a:pPr algn="l">
              <a:spcAft>
                <a:spcPts val="1000"/>
              </a:spcAft>
              <a:defRPr sz="2000">
                <a:solidFill>
                  <a:srgbClr val="243028"/>
                </a:solidFill>
                <a:latin typeface="Calibri"/>
              </a:defRPr>
            </a:pPr>
            <a:r>
              <a:t>Анонсы и заявки расходятся по почте и таблицам.</a:t>
            </a:r>
          </a:p>
          <a:p>
            <a:pPr algn="l">
              <a:spcAft>
                <a:spcPts val="1000"/>
              </a:spcAft>
              <a:defRPr sz="2000">
                <a:solidFill>
                  <a:srgbClr val="243028"/>
                </a:solidFill>
                <a:latin typeface="Calibri"/>
              </a:defRPr>
            </a:pPr>
            <a:r>
              <a:t>Участник не видит статус записи в одном месте.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3999" y="432000"/>
            <a:ext cx="792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4D3A"/>
                </a:solidFill>
                <a:latin typeface="Calibri"/>
              </a:defRPr>
            </a:pPr>
            <a:r>
              <a:t>Цель и объект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1224000"/>
            <a:ext cx="7560000" cy="4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2000">
                <a:solidFill>
                  <a:srgbClr val="243028"/>
                </a:solidFill>
                <a:latin typeface="Calibri"/>
              </a:defRPr>
            </a:pPr>
            <a:r>
              <a:t>Цель — сократить ручную обработку заявок и дать витрину центра.</a:t>
            </a:r>
          </a:p>
          <a:p>
            <a:pPr algn="l">
              <a:spcAft>
                <a:spcPts val="1000"/>
              </a:spcAft>
              <a:defRPr sz="2000">
                <a:solidFill>
                  <a:srgbClr val="243028"/>
                </a:solidFill>
                <a:latin typeface="Calibri"/>
              </a:defRPr>
            </a:pPr>
            <a:r>
              <a:t>Объект — деятельность центра по проектам и мероприятиям.</a:t>
            </a:r>
          </a:p>
          <a:p>
            <a:pPr algn="l">
              <a:spcAft>
                <a:spcPts val="1000"/>
              </a:spcAft>
              <a:defRPr sz="2000">
                <a:solidFill>
                  <a:srgbClr val="243028"/>
                </a:solidFill>
                <a:latin typeface="Calibri"/>
              </a:defRPr>
            </a:pPr>
            <a:r>
              <a:t>Предмет — веб-портал, который эту деятельность поддерживает.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3999" y="432000"/>
            <a:ext cx="792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4D3A"/>
                </a:solidFill>
                <a:latin typeface="Calibri"/>
              </a:defRPr>
            </a:pPr>
            <a:r>
              <a:t>Как есть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1224000"/>
            <a:ext cx="7560000" cy="4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2000">
                <a:solidFill>
                  <a:srgbClr val="243028"/>
                </a:solidFill>
                <a:latin typeface="Calibri"/>
              </a:defRPr>
            </a:pPr>
            <a:r>
              <a:t>Анонс уходит письмом или сообщением.</a:t>
            </a:r>
          </a:p>
          <a:p>
            <a:pPr algn="l">
              <a:spcAft>
                <a:spcPts val="1000"/>
              </a:spcAft>
              <a:defRPr sz="2000">
                <a:solidFill>
                  <a:srgbClr val="243028"/>
                </a:solidFill>
                <a:latin typeface="Calibri"/>
              </a:defRPr>
            </a:pPr>
            <a:r>
              <a:t>Заявка возвращается на почту центра.</a:t>
            </a:r>
          </a:p>
          <a:p>
            <a:pPr algn="l">
              <a:spcAft>
                <a:spcPts val="1000"/>
              </a:spcAft>
              <a:defRPr sz="2000">
                <a:solidFill>
                  <a:srgbClr val="243028"/>
                </a:solidFill>
                <a:latin typeface="Calibri"/>
              </a:defRPr>
            </a:pPr>
            <a:r>
              <a:t>Список участников ведётся отдельно.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3999" y="432000"/>
            <a:ext cx="792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4D3A"/>
                </a:solidFill>
                <a:latin typeface="Calibri"/>
              </a:defRPr>
            </a:pPr>
            <a:r>
              <a:t>Как должно быть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1224000"/>
            <a:ext cx="7560000" cy="4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2000">
                <a:solidFill>
                  <a:srgbClr val="243028"/>
                </a:solidFill>
                <a:latin typeface="Calibri"/>
              </a:defRPr>
            </a:pPr>
            <a:r>
              <a:t>Анонс публикуется на портале.</a:t>
            </a:r>
          </a:p>
          <a:p>
            <a:pPr algn="l">
              <a:spcAft>
                <a:spcPts val="1000"/>
              </a:spcAft>
              <a:defRPr sz="2000">
                <a:solidFill>
                  <a:srgbClr val="243028"/>
                </a:solidFill>
                <a:latin typeface="Calibri"/>
              </a:defRPr>
            </a:pPr>
            <a:r>
              <a:t>Заявка создаётся в личном кабинете.</a:t>
            </a:r>
          </a:p>
          <a:p>
            <a:pPr algn="l">
              <a:spcAft>
                <a:spcPts val="1000"/>
              </a:spcAft>
              <a:defRPr sz="2000">
                <a:solidFill>
                  <a:srgbClr val="243028"/>
                </a:solidFill>
                <a:latin typeface="Calibri"/>
              </a:defRPr>
            </a:pPr>
            <a:r>
              <a:t>Сотрудник принимает решение и выгружает реестр.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3999" y="432000"/>
            <a:ext cx="792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4D3A"/>
                </a:solidFill>
                <a:latin typeface="Calibri"/>
              </a:defRPr>
            </a:pPr>
            <a:r>
              <a:t>Портал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1224000"/>
            <a:ext cx="7560000" cy="4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2000">
                <a:solidFill>
                  <a:srgbClr val="243028"/>
                </a:solidFill>
                <a:latin typeface="Calibri"/>
              </a:defRPr>
            </a:pPr>
            <a:r>
              <a:t>Python, Django, SQL-база.</a:t>
            </a:r>
          </a:p>
          <a:p>
            <a:pPr algn="l">
              <a:spcAft>
                <a:spcPts val="1000"/>
              </a:spcAft>
              <a:defRPr sz="2000">
                <a:solidFill>
                  <a:srgbClr val="243028"/>
                </a:solidFill>
                <a:latin typeface="Calibri"/>
              </a:defRPr>
            </a:pPr>
            <a:r>
              <a:t>Три роли: администратор, сотрудник, участник.</a:t>
            </a:r>
          </a:p>
          <a:p>
            <a:pPr algn="l">
              <a:spcAft>
                <a:spcPts val="1000"/>
              </a:spcAft>
              <a:defRPr sz="2000">
                <a:solidFill>
                  <a:srgbClr val="243028"/>
                </a:solidFill>
                <a:latin typeface="Calibri"/>
              </a:defRPr>
            </a:pPr>
            <a:r>
              <a:t>Публичный раздел, кабинет, отчёты Excel и Word.</a:t>
            </a:r>
          </a:p>
          <a:p>
            <a:pPr algn="l">
              <a:spcAft>
                <a:spcPts val="1000"/>
              </a:spcAft>
              <a:defRPr sz="2000">
                <a:solidFill>
                  <a:srgbClr val="243028"/>
                </a:solidFill>
                <a:latin typeface="Calibri"/>
              </a:defRPr>
            </a:pPr>
            <a:r>
              <a:t>Автор указан в подвале и в справке.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3999" y="432000"/>
            <a:ext cx="792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4D3A"/>
                </a:solidFill>
                <a:latin typeface="Calibri"/>
              </a:defRPr>
            </a:pPr>
            <a:r>
              <a:t>Проверка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1224000"/>
            <a:ext cx="7560000" cy="4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2000">
                <a:solidFill>
                  <a:srgbClr val="243028"/>
                </a:solidFill>
                <a:latin typeface="Calibri"/>
              </a:defRPr>
            </a:pPr>
            <a:r>
              <a:t>Участник видит только свои заявки.</a:t>
            </a:r>
          </a:p>
          <a:p>
            <a:pPr algn="l">
              <a:spcAft>
                <a:spcPts val="1000"/>
              </a:spcAft>
              <a:defRPr sz="2000">
                <a:solidFill>
                  <a:srgbClr val="243028"/>
                </a:solidFill>
                <a:latin typeface="Calibri"/>
              </a:defRPr>
            </a:pPr>
            <a:r>
              <a:t>Сотрудник выгружает реестр и не открывает панель администратора.</a:t>
            </a:r>
          </a:p>
          <a:p>
            <a:pPr algn="l">
              <a:spcAft>
                <a:spcPts val="1000"/>
              </a:spcAft>
              <a:defRPr sz="2000">
                <a:solidFill>
                  <a:srgbClr val="243028"/>
                </a:solidFill>
                <a:latin typeface="Calibri"/>
              </a:defRPr>
            </a:pPr>
            <a:r>
              <a:t>Администратор ведёт роли, новости, публикации и журнал.</a:t>
            </a:r>
          </a:p>
          <a:p>
            <a:pPr algn="l">
              <a:spcAft>
                <a:spcPts val="1000"/>
              </a:spcAft>
              <a:defRPr sz="2000">
                <a:solidFill>
                  <a:srgbClr val="243028"/>
                </a:solidFill>
                <a:latin typeface="Calibri"/>
              </a:defRPr>
            </a:pPr>
            <a:r>
              <a:t>Сценарий scripts/smoke.py завершился без ошибок.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3999" y="432000"/>
            <a:ext cx="792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4D3A"/>
                </a:solidFill>
                <a:latin typeface="Calibri"/>
              </a:defRPr>
            </a:pPr>
            <a:r>
              <a:t>Экономика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1224000"/>
            <a:ext cx="7560000" cy="4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2000">
                <a:solidFill>
                  <a:srgbClr val="243028"/>
                </a:solidFill>
                <a:latin typeface="Calibri"/>
              </a:defRPr>
            </a:pPr>
            <a:r>
              <a:t>Затраты на разработку: 249 709 руб.</a:t>
            </a:r>
          </a:p>
          <a:p>
            <a:pPr algn="l">
              <a:spcAft>
                <a:spcPts val="1000"/>
              </a:spcAft>
              <a:defRPr sz="2000">
                <a:solidFill>
                  <a:srgbClr val="243028"/>
                </a:solidFill>
                <a:latin typeface="Calibri"/>
              </a:defRPr>
            </a:pPr>
            <a:r>
              <a:t>Годовой эффект: 190 511 руб.</a:t>
            </a:r>
          </a:p>
          <a:p>
            <a:pPr algn="l">
              <a:spcAft>
                <a:spcPts val="1000"/>
              </a:spcAft>
              <a:defRPr sz="2000">
                <a:solidFill>
                  <a:srgbClr val="243028"/>
                </a:solidFill>
                <a:latin typeface="Calibri"/>
              </a:defRPr>
            </a:pPr>
            <a:r>
              <a:t>Простой срок окупаемости: 1.31 года.</a:t>
            </a:r>
          </a:p>
          <a:p>
            <a:pPr algn="l">
              <a:spcAft>
                <a:spcPts val="1000"/>
              </a:spcAft>
              <a:defRPr sz="2000">
                <a:solidFill>
                  <a:srgbClr val="243028"/>
                </a:solidFill>
                <a:latin typeface="Calibri"/>
              </a:defRPr>
            </a:pPr>
            <a:r>
              <a:t>Ставки приняты для расчёта и не взяты из другой работы.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35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3999" y="432000"/>
            <a:ext cx="792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C4A46A"/>
                </a:solidFill>
                <a:latin typeface="Calibri"/>
              </a:defRPr>
            </a:pPr>
            <a:r>
              <a:t>Результат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1224000"/>
            <a:ext cx="7560000" cy="4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2000">
                <a:solidFill>
                  <a:srgbClr val="F4F7F4"/>
                </a:solidFill>
                <a:latin typeface="Calibri"/>
              </a:defRPr>
            </a:pPr>
            <a:r>
              <a:t>Работающий портал «НОЦ Устойчивое развитие».</a:t>
            </a:r>
          </a:p>
          <a:p>
            <a:pPr algn="l">
              <a:spcAft>
                <a:spcPts val="1000"/>
              </a:spcAft>
              <a:defRPr sz="2000">
                <a:solidFill>
                  <a:srgbClr val="F4F7F4"/>
                </a:solidFill>
                <a:latin typeface="Calibri"/>
              </a:defRPr>
            </a:pPr>
            <a:r>
              <a:t>Репозиторий: github.com/Dmitrii9898/noc-portal</a:t>
            </a:r>
          </a:p>
          <a:p>
            <a:pPr algn="l">
              <a:spcAft>
                <a:spcPts val="1000"/>
              </a:spcAft>
              <a:defRPr sz="2000">
                <a:solidFill>
                  <a:srgbClr val="F4F7F4"/>
                </a:solidFill>
                <a:latin typeface="Calibri"/>
              </a:defRPr>
            </a:pPr>
            <a:r>
              <a:t>Сайт: nocportal.onrender.com</a:t>
            </a:r>
          </a:p>
          <a:p>
            <a:pPr algn="l">
              <a:spcAft>
                <a:spcPts val="1000"/>
              </a:spcAft>
              <a:defRPr sz="2000">
                <a:solidFill>
                  <a:srgbClr val="F4F7F4"/>
                </a:solidFill>
                <a:latin typeface="Calibri"/>
              </a:defRPr>
            </a:pPr>
            <a:r>
              <a:t>Спасибо за внимание.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
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A46A"/>
                </a:solidFill>
                <a:latin typeface="Calibri"/>
              </a:defRPr>
            </a:pPr>
            <a:r>
              <a:t>Веб-портал НОЦ устойчивого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24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F4F7F4"/>
                </a:solidFill>
                <a:latin typeface="Calibri"/>
              </a:defRPr>
            </a:pPr>
            <a:r>
              <a:t>Курбатов Дмитрий Евгеньевич</a:t>
            </a:r>
          </a:p>
          <a:p>
            <a:pPr algn="l">
              <a:spcAft>
                <a:spcPts val="1000"/>
              </a:spcAft>
              <a:defRPr sz="2000">
                <a:solidFill>
                  <a:srgbClr val="F4F7F4"/>
                </a:solidFill>
                <a:latin typeface="Calibri"/>
              </a:defRPr>
            </a:pPr>
            <a:r>
              <a:t>38.03.05 Бизнес-информатика</a:t>
            </a:r>
          </a:p>
          <a:p>
            <a:pPr algn="l">
              <a:spcAft>
                <a:spcPts val="1000"/>
              </a:spcAft>
              <a:defRPr sz="2000">
                <a:solidFill>
                  <a:srgbClr val="F4F7F4"/>
                </a:solidFill>
                <a:latin typeface="Calibri"/>
              </a:defRPr>
            </a:pPr>
            <a:r>
              <a:t>Руководитель: доцент, к.т.н. А. А. Блощук</a:t>
            </a:r>
          </a:p>
          <a:p>
            <a:pPr algn="l">
              <a:spcAft>
                <a:spcPts val="1000"/>
              </a:spcAft>
              <a:defRPr sz="2000">
                <a:solidFill>
                  <a:srgbClr val="F4F7F4"/>
                </a:solidFill>
                <a:latin typeface="Calibri"/>
              </a:defRPr>
            </a:pPr>
            <a:r>
              <a:t>Москва,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D3A"/>
                </a:solidFill>
                <a:latin typeface="Calibri"/>
              </a:defRPr>
            </a:pPr>
            <a:r>
              <a:t>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24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Разработка веб-портала для Научно-образовательного центра устойчивого развития (на примере Частного образовательного учреждения высшего образования «Московский университет имени С.Ю. Витте»)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D3A"/>
                </a:solidFill>
                <a:latin typeface="Calibri"/>
              </a:defRPr>
            </a:pPr>
            <a: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24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Центр создан в МУИВ в 2021 году как экспертная площадка.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Анонсы и заявки расходятся по почте и таблицам.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Участник не видит статус записи в одном месте.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D3A"/>
                </a:solidFill>
                <a:latin typeface="Calibri"/>
              </a:defRPr>
            </a:pPr>
            <a:r>
              <a:t>Цель и объект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24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Цель — сократить ручную обработку заявок и дать витрину центра.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Объект — деятельность центра по проектам и мероприятиям.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Предмет — веб-портал, который эту деятельность поддерживает.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D3A"/>
                </a:solidFill>
                <a:latin typeface="Calibri"/>
              </a:defRPr>
            </a:pPr>
            <a:r>
              <a:t>Как есть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24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Анонс уходит письмом или сообщением.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Заявка возвращается на почту центра.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Список участников ведётся отдельно.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D3A"/>
                </a:solidFill>
                <a:latin typeface="Calibri"/>
              </a:defRPr>
            </a:pPr>
            <a:r>
              <a:t>Как должно быть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24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Анонс публикуется на портале.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Заявка создаётся в личном кабинете.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Сотрудник принимает решение и выгружает реестр.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D3A"/>
                </a:solidFill>
                <a:latin typeface="Calibri"/>
              </a:defRPr>
            </a:pPr>
            <a:r>
              <a:t>Портал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24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Python, Django, SQL-база.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Три роли: администратор, сотрудник, участник.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Публичный раздел, кабинет, отчёты Excel и Word.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Автор указан в подвале и в справке.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D3A"/>
                </a:solidFill>
                <a:latin typeface="Calibri"/>
              </a:defRPr>
            </a:pPr>
            <a:r>
              <a:t>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24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Участник видит только свои заявки.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Сотрудник выгружает реестр и не открывает панель администратора.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Администратор ведёт роли, новости, публикации и журнал.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Сценарий scripts/smoke.py завершился без ошибок.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D3A"/>
                </a:solidFill>
                <a:latin typeface="Calibri"/>
              </a:defRPr>
            </a:pPr>
            <a:r>
              <a:t>Экономика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24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Затраты на разработку: 249 709 руб.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Годовой эффект: 190 511 руб.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Простой срок окупаемости: 1.31 года.</a:t>
            </a:r>
          </a:p>
          <a:p>
            <a:pPr algn="l">
              <a:spcAft>
                <a:spcPts val="1000"/>
              </a:spcAft>
              <a:defRPr sz="2000">
                <a:solidFill>
                  <a:srgbClr val="243028"/>
                </a:solidFill>
                <a:latin typeface="Calibri"/>
              </a:defRPr>
            </a:pPr>
            <a:r>
              <a:t>Ставки приняты для расчёта и не взяты из другой работы.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4A46A"/>
                </a:solidFill>
                <a:latin typeface="Calibri"/>
              </a:defRPr>
            </a:pPr>
            <a:r>
              <a:t>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24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F4F7F4"/>
                </a:solidFill>
                <a:latin typeface="Calibri"/>
              </a:defRPr>
            </a:pPr>
            <a:r>
              <a:t>Работающий портал «НОЦ Устойчивое развитие».</a:t>
            </a:r>
          </a:p>
          <a:p>
            <a:pPr algn="l">
              <a:spcAft>
                <a:spcPts val="1000"/>
              </a:spcAft>
              <a:defRPr sz="2000">
                <a:solidFill>
                  <a:srgbClr val="F4F7F4"/>
                </a:solidFill>
                <a:latin typeface="Calibri"/>
              </a:defRPr>
            </a:pPr>
            <a:r>
              <a:t>Репозиторий: github.com/Dmitrii9898/noc-portal</a:t>
            </a:r>
          </a:p>
          <a:p>
            <a:pPr algn="l">
              <a:spcAft>
                <a:spcPts val="1000"/>
              </a:spcAft>
              <a:defRPr sz="2000">
                <a:solidFill>
                  <a:srgbClr val="F4F7F4"/>
                </a:solidFill>
                <a:latin typeface="Calibri"/>
              </a:defRPr>
            </a:pPr>
            <a:r>
              <a:t>Спасибо за внимание.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